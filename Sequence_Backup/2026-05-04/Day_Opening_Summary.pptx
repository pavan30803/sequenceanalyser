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Sz cx="12192000" cy="6858000" type="wide"/>
  <p:sldIdLst>
    <p:sldId id="256" r:id="rId1"/>
    <p:sldId id="257" r:id="rId2"/>
    <p:sldId id="258" r:id="rId3"/>
    <p:sldId id="259" r:id="rId4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/Relationships>
</file>

<file path=ppt/slides/_rels/slide1.xml.rels><?xml version="1.0" encoding="UTF-8" standalone="yes"?><Relationships xmlns="http://schemas.openxmlformats.org/package/2006/relationships"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../media/image5.jpg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/Relationships>
</file>

<file path=ppt/slides/_rels/slide4.xml.rels><?xml version="1.0" encoding="UTF-8" standalone="yes"?><Relationships xmlns="http://schemas.openxmlformats.org/package/2006/relationships"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20000" y="260000"/>
            <a:ext cx="11300000" cy="520000"/>
          </a:xfrm>
        </p:spPr>
        <p:txBody>
          <a:bodyPr/>
          <a:lstStyle/>
          <a:p>
            <a:r>
              <a:rPr lang="en-US" sz="3000" b="1"/>
              <a:t>Day Opening Constraint Backup</a:t>
            </a:r>
          </a:p>
        </p:txBody>
      </p:sp>
      <p:sp>
        <p:nvSpPr>
          <p:cNvPr id="3" name="Text"/>
          <p:cNvSpPr/>
          <p:nvPr/>
        </p:nvSpPr>
        <p:spPr>
          <a:xfrm>
            <a:off x="620000" y="980000"/>
            <a:ext cx="10800000" cy="270000"/>
          </a:xfrm>
        </p:spPr>
        <p:txBody>
          <a:bodyPr/>
          <a:lstStyle/>
          <a:p>
            <a:r>
              <a:rPr lang="en-US" sz="1400"/>
              <a:t>Opening Summary</a:t>
            </a:r>
          </a:p>
        </p:txBody>
      </p:sp>
      <p:sp>
        <p:nvSpPr>
          <p:cNvPr id="4" name="Text"/>
          <p:cNvSpPr/>
          <p:nvPr/>
        </p:nvSpPr>
        <p:spPr>
          <a:xfrm>
            <a:off x="620000" y="1240000"/>
            <a:ext cx="10800000" cy="270000"/>
          </a:xfrm>
        </p:spPr>
        <p:txBody>
          <a:bodyPr/>
          <a:lstStyle/>
          <a:p>
            <a:r>
              <a:rPr lang="en-US" sz="1400"/>
              <a:t>Line type: HDT</a:t>
            </a:r>
          </a:p>
        </p:txBody>
      </p:sp>
      <p:sp>
        <p:nvSpPr>
          <p:cNvPr id="5" name="Text"/>
          <p:cNvSpPr/>
          <p:nvPr/>
        </p:nvSpPr>
        <p:spPr>
          <a:xfrm>
            <a:off x="620000" y="1500000"/>
            <a:ext cx="10800000" cy="270000"/>
          </a:xfrm>
        </p:spPr>
        <p:txBody>
          <a:bodyPr/>
          <a:lstStyle/>
          <a:p>
            <a:r>
              <a:rPr lang="en-US" sz="1400"/>
              <a:t>Mapped report rows: 1217</a:t>
            </a:r>
          </a:p>
        </p:txBody>
      </p:sp>
      <p:sp>
        <p:nvSpPr>
          <p:cNvPr id="6" name="Text"/>
          <p:cNvSpPr/>
          <p:nvPr/>
        </p:nvSpPr>
        <p:spPr>
          <a:xfrm>
            <a:off x="620000" y="1760000"/>
            <a:ext cx="10800000" cy="270000"/>
          </a:xfrm>
        </p:spPr>
        <p:txBody>
          <a:bodyPr/>
          <a:lstStyle/>
          <a:p>
            <a:r>
              <a:rPr lang="en-US" sz="1400"/>
              <a:t>Hold orders: 14</a:t>
            </a:r>
          </a:p>
        </p:txBody>
      </p:sp>
      <p:sp>
        <p:nvSpPr>
          <p:cNvPr id="7" name="Text"/>
          <p:cNvSpPr/>
          <p:nvPr/>
        </p:nvSpPr>
        <p:spPr>
          <a:xfrm>
            <a:off x="620000" y="2020000"/>
            <a:ext cx="10800000" cy="270000"/>
          </a:xfrm>
        </p:spPr>
        <p:txBody>
          <a:bodyPr/>
          <a:lstStyle/>
          <a:p>
            <a:r>
              <a:rPr lang="en-US" sz="1400"/>
              <a:t>Skip vehicles: 1</a:t>
            </a:r>
          </a:p>
        </p:txBody>
      </p:sp>
      <p:sp>
        <p:nvSpPr>
          <p:cNvPr id="8" name="Text"/>
          <p:cNvSpPr/>
          <p:nvPr/>
        </p:nvSpPr>
        <p:spPr>
          <a:xfrm>
            <a:off x="620000" y="2280000"/>
            <a:ext cx="10800000" cy="270000"/>
          </a:xfrm>
        </p:spPr>
        <p:txBody>
          <a:bodyPr/>
          <a:lstStyle/>
          <a:p>
            <a:r>
              <a:rPr lang="en-US" sz="1400"/>
              <a:t>Charts</a:t>
            </a:r>
          </a:p>
        </p:txBody>
      </p:sp>
      <p:sp>
        <p:nvSpPr>
          <p:cNvPr id="9" name="Text"/>
          <p:cNvSpPr/>
          <p:nvPr/>
        </p:nvSpPr>
        <p:spPr>
          <a:xfrm>
            <a:off x="620000" y="2540000"/>
            <a:ext cx="10800000" cy="270000"/>
          </a:xfrm>
        </p:spPr>
        <p:txBody>
          <a:bodyPr/>
          <a:lstStyle/>
          <a:p>
            <a:r>
              <a:rPr lang="en-US" sz="1400"/>
              <a:t>Hold by model: 1624  (BUS) = 7</a:t>
            </a:r>
          </a:p>
        </p:txBody>
      </p:sp>
      <p:sp>
        <p:nvSpPr>
          <p:cNvPr id="10" name="Text"/>
          <p:cNvSpPr/>
          <p:nvPr/>
        </p:nvSpPr>
        <p:spPr>
          <a:xfrm>
            <a:off x="620000" y="2800000"/>
            <a:ext cx="10800000" cy="270000"/>
          </a:xfrm>
        </p:spPr>
        <p:txBody>
          <a:bodyPr/>
          <a:lstStyle/>
          <a:p>
            <a:r>
              <a:rPr lang="en-US" sz="1400"/>
              <a:t>Hold by model: 1924  (BUS) = 1</a:t>
            </a:r>
          </a:p>
        </p:txBody>
      </p:sp>
      <p:sp>
        <p:nvSpPr>
          <p:cNvPr id="11" name="Text"/>
          <p:cNvSpPr/>
          <p:nvPr/>
        </p:nvSpPr>
        <p:spPr>
          <a:xfrm>
            <a:off x="620000" y="3060000"/>
            <a:ext cx="10800000" cy="270000"/>
          </a:xfrm>
        </p:spPr>
        <p:txBody>
          <a:bodyPr/>
          <a:lstStyle/>
          <a:p>
            <a:r>
              <a:rPr lang="en-US" sz="1400"/>
              <a:t>Hold by model: 2823R = 1</a:t>
            </a:r>
          </a:p>
        </p:txBody>
      </p:sp>
      <p:sp>
        <p:nvSpPr>
          <p:cNvPr id="12" name="Text"/>
          <p:cNvSpPr/>
          <p:nvPr/>
        </p:nvSpPr>
        <p:spPr>
          <a:xfrm>
            <a:off x="620000" y="3320000"/>
            <a:ext cx="10800000" cy="270000"/>
          </a:xfrm>
        </p:spPr>
        <p:txBody>
          <a:bodyPr/>
          <a:lstStyle/>
          <a:p>
            <a:r>
              <a:rPr lang="en-US" sz="1400"/>
              <a:t>Hold by model: 2826R = 2</a:t>
            </a:r>
          </a:p>
        </p:txBody>
      </p:sp>
      <p:sp>
        <p:nvSpPr>
          <p:cNvPr id="13" name="Text"/>
          <p:cNvSpPr/>
          <p:nvPr/>
        </p:nvSpPr>
        <p:spPr>
          <a:xfrm>
            <a:off x="620000" y="3580000"/>
            <a:ext cx="10800000" cy="270000"/>
          </a:xfrm>
        </p:spPr>
        <p:txBody>
          <a:bodyPr/>
          <a:lstStyle/>
          <a:p>
            <a:r>
              <a:rPr lang="en-US" sz="1400"/>
              <a:t>Hold by model: 3526R = 3</a:t>
            </a:r>
          </a:p>
        </p:txBody>
      </p:sp>
      <p:sp>
        <p:nvSpPr>
          <p:cNvPr id="14" name="Text"/>
          <p:cNvSpPr/>
          <p:nvPr/>
        </p:nvSpPr>
        <p:spPr>
          <a:xfrm>
            <a:off x="620000" y="3840000"/>
            <a:ext cx="10800000" cy="270000"/>
          </a:xfrm>
        </p:spPr>
        <p:txBody>
          <a:bodyPr/>
          <a:lstStyle/>
          <a:p>
            <a:r>
              <a:rPr lang="en-US" sz="1400"/>
              <a:t>Skip by model: 2826C = 1</a:t>
            </a:r>
          </a:p>
        </p:txBody>
      </p:sp>
      <p:sp>
        <p:nvSpPr>
          <p:cNvPr id="15" name="Text"/>
          <p:cNvSpPr/>
          <p:nvPr/>
        </p:nvSpPr>
        <p:spPr>
          <a:xfrm>
            <a:off x="620000" y="4100000"/>
            <a:ext cx="10800000" cy="270000"/>
          </a:xfrm>
        </p:spPr>
        <p:txBody>
          <a:bodyPr/>
          <a:lstStyle/>
          <a:p>
            <a:r>
              <a:rPr lang="en-US" sz="1400"/>
              <a:t>Hold by type: Bus = 8</a:t>
            </a:r>
          </a:p>
        </p:txBody>
      </p:sp>
      <p:sp>
        <p:nvSpPr>
          <p:cNvPr id="16" name="Text"/>
          <p:cNvSpPr/>
          <p:nvPr/>
        </p:nvSpPr>
        <p:spPr>
          <a:xfrm>
            <a:off x="620000" y="4360000"/>
            <a:ext cx="10800000" cy="270000"/>
          </a:xfrm>
        </p:spPr>
        <p:txBody>
          <a:bodyPr/>
          <a:lstStyle/>
          <a:p>
            <a:r>
              <a:rPr lang="en-US" sz="1400"/>
              <a:t>Hold by type: Truck = 6</a:t>
            </a:r>
          </a:p>
        </p:txBody>
      </p:sp>
      <p:sp>
        <p:nvSpPr>
          <p:cNvPr id="17" name="Text"/>
          <p:cNvSpPr/>
          <p:nvPr/>
        </p:nvSpPr>
        <p:spPr>
          <a:xfrm>
            <a:off x="620000" y="4620000"/>
            <a:ext cx="10800000" cy="270000"/>
          </a:xfrm>
        </p:spPr>
        <p:txBody>
          <a:bodyPr/>
          <a:lstStyle/>
          <a:p>
            <a:r>
              <a:rPr lang="en-US" sz="1400"/>
              <a:t>Skip by type: Bus = 0</a:t>
            </a:r>
          </a:p>
        </p:txBody>
      </p:sp>
      <p:sp>
        <p:nvSpPr>
          <p:cNvPr id="18" name="Text"/>
          <p:cNvSpPr/>
          <p:nvPr/>
        </p:nvSpPr>
        <p:spPr>
          <a:xfrm>
            <a:off x="620000" y="4880000"/>
            <a:ext cx="10800000" cy="270000"/>
          </a:xfrm>
        </p:spPr>
        <p:txBody>
          <a:bodyPr/>
          <a:lstStyle/>
          <a:p>
            <a:r>
              <a:rPr lang="en-US" sz="1400"/>
              <a:t>Skip by type: Truck = 1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20000" y="260000"/>
            <a:ext cx="11300000" cy="520000"/>
          </a:xfrm>
        </p:spPr>
        <p:txBody>
          <a:bodyPr/>
          <a:lstStyle/>
          <a:p>
            <a:r>
              <a:rPr lang="en-US" sz="3000" b="1"/>
              <a:t>Hold PI Chart &amp; Further Stratifications</a:t>
            </a:r>
          </a:p>
        </p:txBody>
      </p:sp>
      <p:pic>
        <p:nvPicPr>
          <p:cNvPr id="3" name="Stratification: Hold Orders (By Model)"/>
          <p:cNvPicPr/>
          <p:nvPr/>
        </p:nvPicPr>
        <p:blipFill>
          <a:blip r:embed="rId1"/>
          <a:stretch>
            <a:fillRect/>
          </a:stretch>
        </p:blipFill>
        <p:spPr>
          <a:xfrm>
            <a:off x="450000" y="930000"/>
            <a:ext cx="5300000" cy="3900000"/>
          </a:xfrm>
          <a:prstGeom prst="rect">
            <a:avLst/>
          </a:prstGeom>
        </p:spPr>
      </p:pic>
      <p:pic>
        <p:nvPicPr>
          <p:cNvPr id="4" name="Hold: Type"/>
          <p:cNvPicPr/>
          <p:nvPr/>
        </p:nvPicPr>
        <p:blipFill>
          <a:blip r:embed="rId2"/>
          <a:stretch>
            <a:fillRect/>
          </a:stretch>
        </p:blipFill>
        <p:spPr>
          <a:xfrm>
            <a:off x="6050000" y="930000"/>
            <a:ext cx="2600000" cy="1950000"/>
          </a:xfrm>
          <a:prstGeom prst="rect">
            <a:avLst/>
          </a:prstGeom>
        </p:spPr>
      </p:pic>
      <p:pic>
        <p:nvPicPr>
          <p:cNvPr id="5" name="Hold: W/C"/>
          <p:cNvPicPr/>
          <p:nvPr/>
        </p:nvPicPr>
        <p:blipFill>
          <a:blip r:embed="rId3"/>
          <a:stretch>
            <a:fillRect/>
          </a:stretch>
        </p:blipFill>
        <p:spPr>
          <a:xfrm>
            <a:off x="8850000" y="930000"/>
            <a:ext cx="2600000" cy="1950000"/>
          </a:xfrm>
          <a:prstGeom prst="rect">
            <a:avLst/>
          </a:prstGeom>
        </p:spPr>
      </p:pic>
      <p:pic>
        <p:nvPicPr>
          <p:cNvPr id="6" name="Hold: Reg."/>
          <p:cNvPicPr/>
          <p:nvPr/>
        </p:nvPicPr>
        <p:blipFill>
          <a:blip r:embed="rId4"/>
          <a:stretch>
            <a:fillRect/>
          </a:stretch>
        </p:blipFill>
        <p:spPr>
          <a:xfrm>
            <a:off x="6050000" y="3230000"/>
            <a:ext cx="5400000" cy="2400000"/>
          </a:xfrm>
          <a:prstGeom prst="rect">
            <a:avLst/>
          </a:prstGeom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20000" y="260000"/>
            <a:ext cx="11300000" cy="520000"/>
          </a:xfrm>
        </p:spPr>
        <p:txBody>
          <a:bodyPr/>
          <a:lstStyle/>
          <a:p>
            <a:r>
              <a:rPr lang="en-US" sz="3000" b="1"/>
              <a:t>Skip PI Chart &amp; Further Stratifications</a:t>
            </a:r>
          </a:p>
        </p:txBody>
      </p:sp>
      <p:pic>
        <p:nvPicPr>
          <p:cNvPr id="3" name="Stratification: Skip Orders (By Model)"/>
          <p:cNvPicPr/>
          <p:nvPr/>
        </p:nvPicPr>
        <p:blipFill>
          <a:blip r:embed="rId1"/>
          <a:stretch>
            <a:fillRect/>
          </a:stretch>
        </p:blipFill>
        <p:spPr>
          <a:xfrm>
            <a:off x="450000" y="930000"/>
            <a:ext cx="5300000" cy="3900000"/>
          </a:xfrm>
          <a:prstGeom prst="rect">
            <a:avLst/>
          </a:prstGeom>
        </p:spPr>
      </p:pic>
      <p:pic>
        <p:nvPicPr>
          <p:cNvPr id="4" name="Skip: Type"/>
          <p:cNvPicPr/>
          <p:nvPr/>
        </p:nvPicPr>
        <p:blipFill>
          <a:blip r:embed="rId2"/>
          <a:stretch>
            <a:fillRect/>
          </a:stretch>
        </p:blipFill>
        <p:spPr>
          <a:xfrm>
            <a:off x="6050000" y="930000"/>
            <a:ext cx="2600000" cy="1950000"/>
          </a:xfrm>
          <a:prstGeom prst="rect">
            <a:avLst/>
          </a:prstGeom>
        </p:spPr>
      </p:pic>
      <p:pic>
        <p:nvPicPr>
          <p:cNvPr id="5" name="Skip: W/C"/>
          <p:cNvPicPr/>
          <p:nvPr/>
        </p:nvPicPr>
        <p:blipFill>
          <a:blip r:embed="rId3"/>
          <a:stretch>
            <a:fillRect/>
          </a:stretch>
        </p:blipFill>
        <p:spPr>
          <a:xfrm>
            <a:off x="8850000" y="930000"/>
            <a:ext cx="2600000" cy="1950000"/>
          </a:xfrm>
          <a:prstGeom prst="rect">
            <a:avLst/>
          </a:prstGeom>
        </p:spPr>
      </p:pic>
      <p:pic>
        <p:nvPicPr>
          <p:cNvPr id="6" name="Skip: Reg."/>
          <p:cNvPicPr/>
          <p:nvPr/>
        </p:nvPicPr>
        <p:blipFill>
          <a:blip r:embed="rId4"/>
          <a:stretch>
            <a:fillRect/>
          </a:stretch>
        </p:blipFill>
        <p:spPr>
          <a:xfrm>
            <a:off x="6050000" y="3230000"/>
            <a:ext cx="5400000" cy="2400000"/>
          </a:xfrm>
          <a:prstGeom prst="rect">
            <a:avLst/>
          </a:prstGeom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20000" y="260000"/>
            <a:ext cx="11300000" cy="520000"/>
          </a:xfrm>
        </p:spPr>
        <p:txBody>
          <a:bodyPr/>
          <a:lstStyle/>
          <a:p>
            <a:r>
              <a:rPr lang="en-US" sz="3000" b="1"/>
              <a:t>Shortage Impact Analysis</a:t>
            </a:r>
          </a:p>
        </p:txBody>
      </p:sp>
      <p:sp>
        <p:nvSpPr>
          <p:cNvPr id="3" name="Text"/>
          <p:cNvSpPr/>
          <p:nvPr/>
        </p:nvSpPr>
        <p:spPr>
          <a:xfrm>
            <a:off x="620000" y="980000"/>
            <a:ext cx="10800000" cy="270000"/>
          </a:xfrm>
        </p:spPr>
        <p:txBody>
          <a:bodyPr/>
          <a:lstStyle/>
          <a:p>
            <a:r>
              <a:rPr lang="en-US" sz="1400"/>
              <a:t>Shortage Impact Analysis</a:t>
            </a:r>
          </a:p>
        </p:txBody>
      </p:sp>
      <p:sp>
        <p:nvSpPr>
          <p:cNvPr id="4" name="Text"/>
          <p:cNvSpPr/>
          <p:nvPr/>
        </p:nvSpPr>
        <p:spPr>
          <a:xfrm>
            <a:off x="620000" y="1240000"/>
            <a:ext cx="10800000" cy="270000"/>
          </a:xfrm>
        </p:spPr>
        <p:txBody>
          <a:bodyPr/>
          <a:lstStyle/>
          <a:p>
            <a:r>
              <a:rPr lang="en-US" sz="1400"/>
              <a:t>A4003220479 A part: First shortage 2026-05-15 at 8:50 AM; sequence 11, 12, 13, 14, 15, 16, 17, 18, 19, 20, 21, 22, 23, 40, 43; models 3532CM</a:t>
            </a:r>
          </a:p>
        </p:txBody>
      </p:sp>
      <p:sp>
        <p:nvSpPr>
          <p:cNvPr id="5" name="Text"/>
          <p:cNvSpPr/>
          <p:nvPr/>
        </p:nvSpPr>
        <p:spPr>
          <a:xfrm>
            <a:off x="620000" y="1500000"/>
            <a:ext cx="10800000" cy="270000"/>
          </a:xfrm>
        </p:spPr>
        <p:txBody>
          <a:bodyPr/>
          <a:lstStyle/>
          <a:p>
            <a:r>
              <a:rPr lang="en-US" sz="1400"/>
              <a:t>  2026-05-15: Day plan 15, Shortage qty 15</a:t>
            </a:r>
          </a:p>
        </p:txBody>
      </p:sp>
      <p:sp>
        <p:nvSpPr>
          <p:cNvPr id="6" name="Text"/>
          <p:cNvSpPr/>
          <p:nvPr/>
        </p:nvSpPr>
        <p:spPr>
          <a:xfrm>
            <a:off x="620000" y="1760000"/>
            <a:ext cx="10800000" cy="270000"/>
          </a:xfrm>
        </p:spPr>
        <p:txBody>
          <a:bodyPr/>
          <a:lstStyle/>
          <a:p>
            <a:r>
              <a:rPr lang="en-US" sz="1400"/>
              <a:t>  2026-05-16: Day plan 0, Shortage qty 0</a:t>
            </a:r>
          </a:p>
        </p:txBody>
      </p:sp>
      <p:sp>
        <p:nvSpPr>
          <p:cNvPr id="7" name="Text"/>
          <p:cNvSpPr/>
          <p:nvPr/>
        </p:nvSpPr>
        <p:spPr>
          <a:xfrm>
            <a:off x="620000" y="2020000"/>
            <a:ext cx="10800000" cy="270000"/>
          </a:xfrm>
        </p:spPr>
        <p:txBody>
          <a:bodyPr/>
          <a:lstStyle/>
          <a:p>
            <a:r>
              <a:rPr lang="en-US" sz="1400"/>
              <a:t>  2026-05-18: Day plan 0, Shortage qty 0</a:t>
            </a:r>
          </a:p>
        </p:txBody>
      </p:sp>
    </p:spTree>
  </p:cSld>
</p:sld>
</file>